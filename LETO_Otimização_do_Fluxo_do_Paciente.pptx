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89339" y="1545896"/>
            <a:ext cx="516532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145" b="1" dirty="0">
                <a:solidFill>
                  <a:srgbClr val="0A4D8C"/>
                </a:solidFill>
              </a:rPr>
              <a:t>LETO</a:t>
            </a:r>
            <a:endParaRPr lang="en-US" sz="4145" dirty="0"/>
          </a:p>
        </p:txBody>
      </p:sp>
      <p:sp>
        <p:nvSpPr>
          <p:cNvPr id="4" name="Text 1"/>
          <p:cNvSpPr/>
          <p:nvPr/>
        </p:nvSpPr>
        <p:spPr>
          <a:xfrm>
            <a:off x="1989339" y="2374571"/>
            <a:ext cx="516532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1E88E5"/>
                </a:solidFill>
              </a:rPr>
              <a:t>Otimização do Fluxo do Paciente</a:t>
            </a:r>
            <a:endParaRPr lang="en-US" sz="2226" dirty="0"/>
          </a:p>
        </p:txBody>
      </p:sp>
      <p:sp>
        <p:nvSpPr>
          <p:cNvPr id="5" name="Text 2"/>
          <p:cNvSpPr/>
          <p:nvPr/>
        </p:nvSpPr>
        <p:spPr>
          <a:xfrm>
            <a:off x="1989339" y="3088946"/>
            <a:ext cx="5165322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Inovação para a Eficiência Hospitalar</a:t>
            </a:r>
            <a:endParaRPr lang="en-US" sz="62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238241"/>
            <a:ext cx="4000500" cy="26669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14875" y="1233748"/>
            <a:ext cx="40005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16" b="1" dirty="0">
                <a:solidFill>
                  <a:srgbClr val="0A4D8C"/>
                </a:solidFill>
              </a:rPr>
              <a:t>O Desafio do Leito Ocupado</a:t>
            </a:r>
            <a:endParaRPr lang="en-US" sz="2016" dirty="0"/>
          </a:p>
        </p:txBody>
      </p:sp>
      <p:sp>
        <p:nvSpPr>
          <p:cNvPr id="5" name="Text 1"/>
          <p:cNvSpPr/>
          <p:nvPr/>
        </p:nvSpPr>
        <p:spPr>
          <a:xfrm>
            <a:off x="4714875" y="1783817"/>
            <a:ext cx="4000500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Após a alta do paciente, o leito permanece indisponível por um período prolongado, gerando gargalos no fluxo hospitalar.</a:t>
            </a:r>
            <a:endParaRPr lang="en-US" sz="621" dirty="0"/>
          </a:p>
        </p:txBody>
      </p:sp>
      <p:sp>
        <p:nvSpPr>
          <p:cNvPr id="6" name="Text 2"/>
          <p:cNvSpPr/>
          <p:nvPr/>
        </p:nvSpPr>
        <p:spPr>
          <a:xfrm>
            <a:off x="4714875" y="2270987"/>
            <a:ext cx="400050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Espera por limpeza e desinfecção</a:t>
            </a:r>
            <a:endParaRPr lang="en-US" sz="621" dirty="0"/>
          </a:p>
        </p:txBody>
      </p:sp>
      <p:sp>
        <p:nvSpPr>
          <p:cNvPr id="7" name="Text 3"/>
          <p:cNvSpPr/>
          <p:nvPr/>
        </p:nvSpPr>
        <p:spPr>
          <a:xfrm>
            <a:off x="4714875" y="2572810"/>
            <a:ext cx="400050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Transporte do paciente</a:t>
            </a:r>
            <a:endParaRPr lang="en-US" sz="621" dirty="0"/>
          </a:p>
        </p:txBody>
      </p:sp>
      <p:sp>
        <p:nvSpPr>
          <p:cNvPr id="8" name="Text 4"/>
          <p:cNvSpPr/>
          <p:nvPr/>
        </p:nvSpPr>
        <p:spPr>
          <a:xfrm>
            <a:off x="4714875" y="2874634"/>
            <a:ext cx="400050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Reposição de insumos e medicamentos (Farmácia)</a:t>
            </a:r>
            <a:endParaRPr lang="en-US" sz="621" dirty="0"/>
          </a:p>
        </p:txBody>
      </p:sp>
      <p:sp>
        <p:nvSpPr>
          <p:cNvPr id="9" name="Shape 5"/>
          <p:cNvSpPr/>
          <p:nvPr/>
        </p:nvSpPr>
        <p:spPr>
          <a:xfrm>
            <a:off x="4714875" y="3247895"/>
            <a:ext cx="4000500" cy="661857"/>
          </a:xfrm>
          <a:prstGeom prst="rect">
            <a:avLst/>
          </a:prstGeom>
          <a:solidFill>
            <a:srgbClr val="1E88E5">
              <a:alpha val="8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4714875" y="3247895"/>
            <a:ext cx="28575" cy="661857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1" name="Text 7"/>
          <p:cNvSpPr/>
          <p:nvPr/>
        </p:nvSpPr>
        <p:spPr>
          <a:xfrm>
            <a:off x="4822031" y="3355051"/>
            <a:ext cx="37861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A4D8C"/>
                </a:solidFill>
              </a:rPr>
              <a:t>IMPACTO</a:t>
            </a:r>
            <a:endParaRPr lang="en-US" sz="584" dirty="0"/>
          </a:p>
        </p:txBody>
      </p:sp>
      <p:sp>
        <p:nvSpPr>
          <p:cNvPr id="12" name="Text 8"/>
          <p:cNvSpPr/>
          <p:nvPr/>
        </p:nvSpPr>
        <p:spPr>
          <a:xfrm>
            <a:off x="4822031" y="3528287"/>
            <a:ext cx="3786188" cy="27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Aumento do tempo de espera para novos pacientes e redução da eficiência operacional do hospital.</a:t>
            </a:r>
            <a:endParaRPr lang="en-US" sz="6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238241"/>
            <a:ext cx="4000500" cy="26669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8625" y="1240892"/>
            <a:ext cx="4000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16" b="1" dirty="0">
                <a:solidFill>
                  <a:srgbClr val="0A4D8C"/>
                </a:solidFill>
              </a:rPr>
              <a:t>LETO: O Uber da Gestão de Leitos</a:t>
            </a:r>
            <a:endParaRPr lang="en-US" sz="2016" dirty="0"/>
          </a:p>
        </p:txBody>
      </p:sp>
      <p:sp>
        <p:nvSpPr>
          <p:cNvPr id="5" name="Text 1"/>
          <p:cNvSpPr/>
          <p:nvPr/>
        </p:nvSpPr>
        <p:spPr>
          <a:xfrm>
            <a:off x="428625" y="2162435"/>
            <a:ext cx="4000500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Um sistema integrado que combina um aplicativo móvel e um painel de controle em tempo real para coordenar todas as equipes do hospital.</a:t>
            </a:r>
            <a:endParaRPr lang="en-US" sz="621" dirty="0"/>
          </a:p>
        </p:txBody>
      </p:sp>
      <p:sp>
        <p:nvSpPr>
          <p:cNvPr id="6" name="Shape 2"/>
          <p:cNvSpPr/>
          <p:nvPr/>
        </p:nvSpPr>
        <p:spPr>
          <a:xfrm>
            <a:off x="428625" y="2613887"/>
            <a:ext cx="4000500" cy="661857"/>
          </a:xfrm>
          <a:prstGeom prst="rect">
            <a:avLst/>
          </a:prstGeom>
          <a:solidFill>
            <a:srgbClr val="00C896">
              <a:alpha val="8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428625" y="2613887"/>
            <a:ext cx="28575" cy="661857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8" name="Text 4"/>
          <p:cNvSpPr/>
          <p:nvPr/>
        </p:nvSpPr>
        <p:spPr>
          <a:xfrm>
            <a:off x="535781" y="2721043"/>
            <a:ext cx="37861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A4D8C"/>
                </a:solidFill>
              </a:rPr>
              <a:t>FUNCIONALIDADE PRINCIPAL</a:t>
            </a:r>
            <a:endParaRPr lang="en-US" sz="584" dirty="0"/>
          </a:p>
        </p:txBody>
      </p:sp>
      <p:sp>
        <p:nvSpPr>
          <p:cNvPr id="9" name="Text 5"/>
          <p:cNvSpPr/>
          <p:nvPr/>
        </p:nvSpPr>
        <p:spPr>
          <a:xfrm>
            <a:off x="535781" y="2894279"/>
            <a:ext cx="3786188" cy="27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Notifica automaticamente as equipes de transporte, limpeza e farmácia sobre a alta do paciente, mostrando o status de cada leito em tempo real.</a:t>
            </a:r>
            <a:endParaRPr lang="en-US" sz="621" dirty="0"/>
          </a:p>
        </p:txBody>
      </p:sp>
      <p:sp>
        <p:nvSpPr>
          <p:cNvPr id="10" name="Shape 6"/>
          <p:cNvSpPr/>
          <p:nvPr/>
        </p:nvSpPr>
        <p:spPr>
          <a:xfrm>
            <a:off x="428625" y="3454338"/>
            <a:ext cx="4000500" cy="448270"/>
          </a:xfrm>
          <a:prstGeom prst="rect">
            <a:avLst/>
          </a:prstGeom>
          <a:solidFill>
            <a:srgbClr val="1E88E5">
              <a:alpha val="5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535781" y="3561494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88E5"/>
                </a:solidFill>
              </a:rPr>
              <a:t>⚡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835819" y="3620430"/>
            <a:ext cx="31282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A4D8C"/>
                </a:solidFill>
              </a:rPr>
              <a:t>Como o Uber: sistema de notificação e acompanhamento em tempo real</a:t>
            </a:r>
            <a:endParaRPr lang="en-US" sz="5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77064" y="392376"/>
            <a:ext cx="5589845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0A4D8C"/>
                </a:solidFill>
              </a:rPr>
              <a:t>Fluxo Otimizado: Da Alta ao Leito Livre</a:t>
            </a:r>
            <a:endParaRPr lang="en-US" sz="201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813" y="1138898"/>
            <a:ext cx="3000375" cy="2000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5775" y="3582060"/>
            <a:ext cx="1457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88E5"/>
                </a:solidFill>
              </a:rPr>
              <a:t>Passo 1</a:t>
            </a:r>
            <a:endParaRPr lang="en-US" sz="584" dirty="0"/>
          </a:p>
        </p:txBody>
      </p:sp>
      <p:sp>
        <p:nvSpPr>
          <p:cNvPr id="6" name="Text 2"/>
          <p:cNvSpPr/>
          <p:nvPr/>
        </p:nvSpPr>
        <p:spPr>
          <a:xfrm>
            <a:off x="485775" y="3741009"/>
            <a:ext cx="14573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Alta Confirmada</a:t>
            </a:r>
            <a:endParaRPr lang="en-US" sz="621" dirty="0"/>
          </a:p>
        </p:txBody>
      </p:sp>
      <p:sp>
        <p:nvSpPr>
          <p:cNvPr id="7" name="Text 3"/>
          <p:cNvSpPr/>
          <p:nvPr/>
        </p:nvSpPr>
        <p:spPr>
          <a:xfrm>
            <a:off x="2164556" y="3582060"/>
            <a:ext cx="1457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88E5"/>
                </a:solidFill>
              </a:rPr>
              <a:t>Passo 2</a:t>
            </a:r>
            <a:endParaRPr lang="en-US" sz="584" dirty="0"/>
          </a:p>
        </p:txBody>
      </p:sp>
      <p:sp>
        <p:nvSpPr>
          <p:cNvPr id="8" name="Text 4"/>
          <p:cNvSpPr/>
          <p:nvPr/>
        </p:nvSpPr>
        <p:spPr>
          <a:xfrm>
            <a:off x="2164556" y="3741009"/>
            <a:ext cx="14573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Alertas Automáticos</a:t>
            </a:r>
            <a:endParaRPr lang="en-US" sz="621" dirty="0"/>
          </a:p>
        </p:txBody>
      </p:sp>
      <p:sp>
        <p:nvSpPr>
          <p:cNvPr id="9" name="Text 5"/>
          <p:cNvSpPr/>
          <p:nvPr/>
        </p:nvSpPr>
        <p:spPr>
          <a:xfrm>
            <a:off x="3843338" y="3582060"/>
            <a:ext cx="1457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88E5"/>
                </a:solidFill>
              </a:rPr>
              <a:t>Passo 3</a:t>
            </a:r>
            <a:endParaRPr lang="en-US" sz="584" dirty="0"/>
          </a:p>
        </p:txBody>
      </p:sp>
      <p:sp>
        <p:nvSpPr>
          <p:cNvPr id="10" name="Text 6"/>
          <p:cNvSpPr/>
          <p:nvPr/>
        </p:nvSpPr>
        <p:spPr>
          <a:xfrm>
            <a:off x="3843338" y="3741009"/>
            <a:ext cx="14573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Transporte</a:t>
            </a:r>
            <a:endParaRPr lang="en-US" sz="621" dirty="0"/>
          </a:p>
        </p:txBody>
      </p:sp>
      <p:sp>
        <p:nvSpPr>
          <p:cNvPr id="11" name="Text 7"/>
          <p:cNvSpPr/>
          <p:nvPr/>
        </p:nvSpPr>
        <p:spPr>
          <a:xfrm>
            <a:off x="5522119" y="3582060"/>
            <a:ext cx="1457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88E5"/>
                </a:solidFill>
              </a:rPr>
              <a:t>Passo 4</a:t>
            </a:r>
            <a:endParaRPr lang="en-US" sz="584" dirty="0"/>
          </a:p>
        </p:txBody>
      </p:sp>
      <p:sp>
        <p:nvSpPr>
          <p:cNvPr id="12" name="Text 8"/>
          <p:cNvSpPr/>
          <p:nvPr/>
        </p:nvSpPr>
        <p:spPr>
          <a:xfrm>
            <a:off x="5522119" y="3741009"/>
            <a:ext cx="14573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Limpeza</a:t>
            </a:r>
            <a:endParaRPr lang="en-US" sz="621" dirty="0"/>
          </a:p>
        </p:txBody>
      </p:sp>
      <p:sp>
        <p:nvSpPr>
          <p:cNvPr id="13" name="Text 9"/>
          <p:cNvSpPr/>
          <p:nvPr/>
        </p:nvSpPr>
        <p:spPr>
          <a:xfrm>
            <a:off x="7200900" y="3582060"/>
            <a:ext cx="1457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88E5"/>
                </a:solidFill>
              </a:rPr>
              <a:t>Passo 5</a:t>
            </a:r>
            <a:endParaRPr lang="en-US" sz="584" dirty="0"/>
          </a:p>
        </p:txBody>
      </p:sp>
      <p:sp>
        <p:nvSpPr>
          <p:cNvPr id="14" name="Text 10"/>
          <p:cNvSpPr/>
          <p:nvPr/>
        </p:nvSpPr>
        <p:spPr>
          <a:xfrm>
            <a:off x="7200900" y="3741009"/>
            <a:ext cx="14573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Leito Livre</a:t>
            </a:r>
            <a:endParaRPr lang="en-US" sz="621" dirty="0"/>
          </a:p>
        </p:txBody>
      </p:sp>
      <p:sp>
        <p:nvSpPr>
          <p:cNvPr id="15" name="Shape 11"/>
          <p:cNvSpPr/>
          <p:nvPr/>
        </p:nvSpPr>
        <p:spPr>
          <a:xfrm>
            <a:off x="428625" y="4241071"/>
            <a:ext cx="8286750" cy="510053"/>
          </a:xfrm>
          <a:prstGeom prst="rect">
            <a:avLst/>
          </a:prstGeom>
          <a:solidFill>
            <a:srgbClr val="00C896">
              <a:alpha val="6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428625" y="4241071"/>
            <a:ext cx="8286750" cy="21431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7" name="Text 13"/>
          <p:cNvSpPr/>
          <p:nvPr/>
        </p:nvSpPr>
        <p:spPr>
          <a:xfrm>
            <a:off x="571500" y="4358943"/>
            <a:ext cx="8001000" cy="27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2C3E50"/>
                </a:solidFill>
              </a:rPr>
              <a:t>O processo: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 Quando o médico registra a alta no app, o sistema envia notificações imediatas para as equipes de transporte, limpeza e farmácia, coordenando todas as ações até o leito estar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disponível novamente.</a:t>
            </a:r>
            <a:endParaRPr lang="en-US" sz="5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238241"/>
            <a:ext cx="4000500" cy="26669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14875" y="1060847"/>
            <a:ext cx="4000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16" b="1" dirty="0">
                <a:solidFill>
                  <a:srgbClr val="0A4D8C"/>
                </a:solidFill>
              </a:rPr>
              <a:t>Resultados: Menos Espera, Mais Produtividade</a:t>
            </a:r>
            <a:endParaRPr lang="en-US" sz="2016" dirty="0"/>
          </a:p>
        </p:txBody>
      </p:sp>
      <p:sp>
        <p:nvSpPr>
          <p:cNvPr id="5" name="Shape 1"/>
          <p:cNvSpPr/>
          <p:nvPr/>
        </p:nvSpPr>
        <p:spPr>
          <a:xfrm>
            <a:off x="4714875" y="2018109"/>
            <a:ext cx="285750" cy="28575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6" name="Text 2"/>
          <p:cNvSpPr/>
          <p:nvPr/>
        </p:nvSpPr>
        <p:spPr>
          <a:xfrm>
            <a:off x="4714875" y="2018109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⏱</a:t>
            </a:r>
            <a:endParaRPr lang="en-US" sz="885" dirty="0"/>
          </a:p>
        </p:txBody>
      </p:sp>
      <p:sp>
        <p:nvSpPr>
          <p:cNvPr id="7" name="Text 3"/>
          <p:cNvSpPr/>
          <p:nvPr/>
        </p:nvSpPr>
        <p:spPr>
          <a:xfrm>
            <a:off x="5107781" y="2018109"/>
            <a:ext cx="36075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A4D8C"/>
                </a:solidFill>
              </a:rPr>
              <a:t>Redução do Tempo de Espera</a:t>
            </a:r>
            <a:endParaRPr lang="en-US" sz="584" dirty="0"/>
          </a:p>
        </p:txBody>
      </p:sp>
      <p:sp>
        <p:nvSpPr>
          <p:cNvPr id="8" name="Text 4"/>
          <p:cNvSpPr/>
          <p:nvPr/>
        </p:nvSpPr>
        <p:spPr>
          <a:xfrm>
            <a:off x="5107781" y="2169914"/>
            <a:ext cx="3607594" cy="27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Diminuição significativa do tempo de permanência de pacientes aguardando leito disponível.</a:t>
            </a:r>
            <a:endParaRPr lang="en-US" sz="621" dirty="0"/>
          </a:p>
        </p:txBody>
      </p:sp>
      <p:sp>
        <p:nvSpPr>
          <p:cNvPr id="9" name="Shape 5"/>
          <p:cNvSpPr/>
          <p:nvPr/>
        </p:nvSpPr>
        <p:spPr>
          <a:xfrm>
            <a:off x="4714875" y="2701398"/>
            <a:ext cx="285750" cy="28575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0" name="Text 6"/>
          <p:cNvSpPr/>
          <p:nvPr/>
        </p:nvSpPr>
        <p:spPr>
          <a:xfrm>
            <a:off x="4714875" y="2701398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📈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5107781" y="2701398"/>
            <a:ext cx="36075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A4D8C"/>
                </a:solidFill>
              </a:rPr>
              <a:t>Aumento da Eficiência Operacional</a:t>
            </a:r>
            <a:endParaRPr lang="en-US" sz="584" dirty="0"/>
          </a:p>
        </p:txBody>
      </p:sp>
      <p:sp>
        <p:nvSpPr>
          <p:cNvPr id="12" name="Text 8"/>
          <p:cNvSpPr/>
          <p:nvPr/>
        </p:nvSpPr>
        <p:spPr>
          <a:xfrm>
            <a:off x="5107781" y="2853203"/>
            <a:ext cx="3607594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Fluxo de trabalho coordenado e sem gargalos entre as equipes do hospital.</a:t>
            </a:r>
            <a:endParaRPr lang="en-US" sz="621" dirty="0"/>
          </a:p>
        </p:txBody>
      </p:sp>
      <p:sp>
        <p:nvSpPr>
          <p:cNvPr id="13" name="Shape 9"/>
          <p:cNvSpPr/>
          <p:nvPr/>
        </p:nvSpPr>
        <p:spPr>
          <a:xfrm>
            <a:off x="4714875" y="3247532"/>
            <a:ext cx="285750" cy="28575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4" name="Text 10"/>
          <p:cNvSpPr/>
          <p:nvPr/>
        </p:nvSpPr>
        <p:spPr>
          <a:xfrm>
            <a:off x="4714875" y="3247532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😊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5107781" y="3247532"/>
            <a:ext cx="36075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A4D8C"/>
                </a:solidFill>
              </a:rPr>
              <a:t>Melhoria da Experiência do Paciente</a:t>
            </a:r>
            <a:endParaRPr lang="en-US" sz="584" dirty="0"/>
          </a:p>
        </p:txBody>
      </p:sp>
      <p:sp>
        <p:nvSpPr>
          <p:cNvPr id="16" name="Text 12"/>
          <p:cNvSpPr/>
          <p:nvPr/>
        </p:nvSpPr>
        <p:spPr>
          <a:xfrm>
            <a:off x="5107781" y="3399337"/>
            <a:ext cx="3607594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Atendimento mais rápido e organizado, aumentando a satisfação dos pacientes.</a:t>
            </a:r>
            <a:endParaRPr lang="en-US" sz="621" dirty="0"/>
          </a:p>
        </p:txBody>
      </p:sp>
      <p:sp>
        <p:nvSpPr>
          <p:cNvPr id="17" name="Shape 13"/>
          <p:cNvSpPr/>
          <p:nvPr/>
        </p:nvSpPr>
        <p:spPr>
          <a:xfrm>
            <a:off x="4714875" y="3793666"/>
            <a:ext cx="285750" cy="28575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8" name="Text 14"/>
          <p:cNvSpPr/>
          <p:nvPr/>
        </p:nvSpPr>
        <p:spPr>
          <a:xfrm>
            <a:off x="4714875" y="379366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⚙</a:t>
            </a:r>
            <a:endParaRPr lang="en-US" sz="885" dirty="0"/>
          </a:p>
        </p:txBody>
      </p:sp>
      <p:sp>
        <p:nvSpPr>
          <p:cNvPr id="19" name="Text 15"/>
          <p:cNvSpPr/>
          <p:nvPr/>
        </p:nvSpPr>
        <p:spPr>
          <a:xfrm>
            <a:off x="5107781" y="3793666"/>
            <a:ext cx="36075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A4D8C"/>
                </a:solidFill>
              </a:rPr>
              <a:t>Otimização de Recursos</a:t>
            </a:r>
            <a:endParaRPr lang="en-US" sz="584" dirty="0"/>
          </a:p>
        </p:txBody>
      </p:sp>
      <p:sp>
        <p:nvSpPr>
          <p:cNvPr id="20" name="Text 16"/>
          <p:cNvSpPr/>
          <p:nvPr/>
        </p:nvSpPr>
        <p:spPr>
          <a:xfrm>
            <a:off x="5107781" y="3945471"/>
            <a:ext cx="3607594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Melhor aproveitamento da capacidade instalada e dos recursos hospitalares.</a:t>
            </a: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238241"/>
            <a:ext cx="4000500" cy="26669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14875" y="1145874"/>
            <a:ext cx="4000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16" b="1" dirty="0">
                <a:solidFill>
                  <a:srgbClr val="0A4D8C"/>
                </a:solidFill>
              </a:rPr>
              <a:t>A Tecnologia por Trás da Otimização</a:t>
            </a:r>
            <a:endParaRPr lang="en-US" sz="2016" dirty="0"/>
          </a:p>
        </p:txBody>
      </p:sp>
      <p:sp>
        <p:nvSpPr>
          <p:cNvPr id="5" name="Text 1"/>
          <p:cNvSpPr/>
          <p:nvPr/>
        </p:nvSpPr>
        <p:spPr>
          <a:xfrm>
            <a:off x="4714875" y="2067418"/>
            <a:ext cx="4000500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O LETO é construído sobre uma arquitetura tecnológica robusta e integrada que permite comunicação em tempo real entre todas as equipes do hospital.</a:t>
            </a:r>
            <a:endParaRPr lang="en-US" sz="621" dirty="0"/>
          </a:p>
        </p:txBody>
      </p:sp>
      <p:sp>
        <p:nvSpPr>
          <p:cNvPr id="6" name="Text 2"/>
          <p:cNvSpPr/>
          <p:nvPr/>
        </p:nvSpPr>
        <p:spPr>
          <a:xfrm>
            <a:off x="4864894" y="2554588"/>
            <a:ext cx="618744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A4D8C"/>
                </a:solidFill>
              </a:rPr>
              <a:t>Aplicativo Móvel:</a:t>
            </a:r>
            <a:endParaRPr lang="en-US" sz="584" dirty="0"/>
          </a:p>
        </p:txBody>
      </p:sp>
      <p:sp>
        <p:nvSpPr>
          <p:cNvPr id="7" name="Text 3"/>
          <p:cNvSpPr/>
          <p:nvPr/>
        </p:nvSpPr>
        <p:spPr>
          <a:xfrm>
            <a:off x="5540787" y="2554588"/>
            <a:ext cx="317458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Interface intuitiva para médicos e equipes registrarem e acompanharem o status de cada ação.</a:t>
            </a:r>
            <a:endParaRPr lang="en-US" sz="621" dirty="0"/>
          </a:p>
        </p:txBody>
      </p:sp>
      <p:sp>
        <p:nvSpPr>
          <p:cNvPr id="8" name="Text 4"/>
          <p:cNvSpPr/>
          <p:nvPr/>
        </p:nvSpPr>
        <p:spPr>
          <a:xfrm>
            <a:off x="4864894" y="2915348"/>
            <a:ext cx="73176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A4D8C"/>
                </a:solidFill>
              </a:rPr>
              <a:t>Painel de Controle:</a:t>
            </a:r>
            <a:endParaRPr lang="en-US" sz="584" dirty="0"/>
          </a:p>
        </p:txBody>
      </p:sp>
      <p:sp>
        <p:nvSpPr>
          <p:cNvPr id="9" name="Text 5"/>
          <p:cNvSpPr/>
          <p:nvPr/>
        </p:nvSpPr>
        <p:spPr>
          <a:xfrm>
            <a:off x="5653804" y="2915348"/>
            <a:ext cx="306157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Dashboard centralizado para visualização em tempo real do status de todos os leitos.</a:t>
            </a:r>
            <a:endParaRPr lang="en-US" sz="621" dirty="0"/>
          </a:p>
        </p:txBody>
      </p:sp>
      <p:sp>
        <p:nvSpPr>
          <p:cNvPr id="10" name="Text 6"/>
          <p:cNvSpPr/>
          <p:nvPr/>
        </p:nvSpPr>
        <p:spPr>
          <a:xfrm>
            <a:off x="4864894" y="3276107"/>
            <a:ext cx="66902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A4D8C"/>
                </a:solidFill>
              </a:rPr>
              <a:t>Banco de Dados:</a:t>
            </a:r>
            <a:endParaRPr lang="en-US" sz="584" dirty="0"/>
          </a:p>
        </p:txBody>
      </p:sp>
      <p:sp>
        <p:nvSpPr>
          <p:cNvPr id="11" name="Text 7"/>
          <p:cNvSpPr/>
          <p:nvPr/>
        </p:nvSpPr>
        <p:spPr>
          <a:xfrm>
            <a:off x="5591073" y="3276107"/>
            <a:ext cx="3124302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Armazenamento seguro em nuvem com acesso rápido e confiável às informações.</a:t>
            </a:r>
            <a:endParaRPr lang="en-US" sz="621" dirty="0"/>
          </a:p>
        </p:txBody>
      </p:sp>
      <p:sp>
        <p:nvSpPr>
          <p:cNvPr id="12" name="Text 8"/>
          <p:cNvSpPr/>
          <p:nvPr/>
        </p:nvSpPr>
        <p:spPr>
          <a:xfrm>
            <a:off x="4864894" y="3636866"/>
            <a:ext cx="923944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A4D8C"/>
                </a:solidFill>
              </a:rPr>
              <a:t>Sistema de Notificações:</a:t>
            </a:r>
            <a:endParaRPr lang="en-US" sz="584" dirty="0"/>
          </a:p>
        </p:txBody>
      </p:sp>
      <p:sp>
        <p:nvSpPr>
          <p:cNvPr id="13" name="Text 9"/>
          <p:cNvSpPr/>
          <p:nvPr/>
        </p:nvSpPr>
        <p:spPr>
          <a:xfrm>
            <a:off x="5845987" y="3636866"/>
            <a:ext cx="286938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Alertas instantâneos via push e SMS para coordenar as equipes automaticamente.</a:t>
            </a:r>
            <a:endParaRPr lang="en-US" sz="62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71688" y="1096956"/>
            <a:ext cx="500062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A4D8C"/>
                </a:solidFill>
              </a:rPr>
              <a:t>Menos espera,</a:t>
            </a:r>
            <a:pPr algn="ctr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A4D8C"/>
                </a:solidFill>
              </a:rPr>
              <a:t>
</a:t>
            </a:r>
            <a:pPr algn="ctr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0C896"/>
                </a:solidFill>
              </a:rPr>
              <a:t>mais cuidado.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071688" y="2134195"/>
            <a:ext cx="5000625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LETO transforma a gestão hospitalar, otimizando o fluxo de pacientes e permitindo que as equipes se concentrem no que realmente importa: o cuidado com a saúde.</a:t>
            </a:r>
            <a:endParaRPr lang="en-US" sz="621" dirty="0"/>
          </a:p>
        </p:txBody>
      </p:sp>
      <p:sp>
        <p:nvSpPr>
          <p:cNvPr id="5" name="Shape 2"/>
          <p:cNvSpPr/>
          <p:nvPr/>
        </p:nvSpPr>
        <p:spPr>
          <a:xfrm>
            <a:off x="3729735" y="2799959"/>
            <a:ext cx="357188" cy="35718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6" name="Text 3"/>
          <p:cNvSpPr/>
          <p:nvPr/>
        </p:nvSpPr>
        <p:spPr>
          <a:xfrm>
            <a:off x="3729735" y="2799959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⚡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3701439" y="3228584"/>
            <a:ext cx="41380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A4D8C"/>
                </a:solidFill>
              </a:rPr>
              <a:t>Eficiência</a:t>
            </a:r>
            <a:endParaRPr lang="en-US" sz="584" dirty="0"/>
          </a:p>
        </p:txBody>
      </p:sp>
      <p:sp>
        <p:nvSpPr>
          <p:cNvPr id="8" name="Shape 5"/>
          <p:cNvSpPr/>
          <p:nvPr/>
        </p:nvSpPr>
        <p:spPr>
          <a:xfrm>
            <a:off x="4400996" y="2799959"/>
            <a:ext cx="357188" cy="35718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9" name="Text 6"/>
          <p:cNvSpPr/>
          <p:nvPr/>
        </p:nvSpPr>
        <p:spPr>
          <a:xfrm>
            <a:off x="4400996" y="2799959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❤️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402308" y="3228584"/>
            <a:ext cx="35456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A4D8C"/>
                </a:solidFill>
              </a:rPr>
              <a:t>Cuidado</a:t>
            </a:r>
            <a:endParaRPr lang="en-US" sz="584" dirty="0"/>
          </a:p>
        </p:txBody>
      </p:sp>
      <p:sp>
        <p:nvSpPr>
          <p:cNvPr id="11" name="Shape 8"/>
          <p:cNvSpPr/>
          <p:nvPr/>
        </p:nvSpPr>
        <p:spPr>
          <a:xfrm>
            <a:off x="5064640" y="2799959"/>
            <a:ext cx="357188" cy="35718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2" name="Text 9"/>
          <p:cNvSpPr/>
          <p:nvPr/>
        </p:nvSpPr>
        <p:spPr>
          <a:xfrm>
            <a:off x="5064640" y="2799959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🚀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5043934" y="3228584"/>
            <a:ext cx="39862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A4D8C"/>
                </a:solidFill>
              </a:rPr>
              <a:t>Inovação</a:t>
            </a:r>
            <a:endParaRPr lang="en-US" sz="584" dirty="0"/>
          </a:p>
        </p:txBody>
      </p:sp>
      <p:sp>
        <p:nvSpPr>
          <p:cNvPr id="14" name="Text 11"/>
          <p:cNvSpPr/>
          <p:nvPr/>
        </p:nvSpPr>
        <p:spPr>
          <a:xfrm>
            <a:off x="2071688" y="3930458"/>
            <a:ext cx="50006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1E88E5"/>
                </a:solidFill>
              </a:rPr>
              <a:t>LETO: Inovação para Hospitais Modernos</a:t>
            </a:r>
            <a:endParaRPr lang="en-US" sz="5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2025-11-06T23:46:00Z</dcterms:created>
  <dcterms:modified xsi:type="dcterms:W3CDTF">2025-11-06T23:46:00Z</dcterms:modified>
</cp:coreProperties>
</file>